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本次说明聚焦系统的实际使用流程，覆盖管理员建题组卷、学员考试、结果分析、报表通报、错题追溯与文件库导题能力。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系统不仅是“做题工具”，更是培训治理平台，关键在于把考试结果转化成可执行的培训改进动作。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管理员与学员入口完全分离，便于权限管理；移动端通过统一下载接口安装。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通过角色隔离保证数据安全，管理员看全局，学员只看本人相关信息。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管理员可以按这个“四步法”稳定推进考试项目实施。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制度来源字段是后续“错题来源追踪”和“制度培训整改”的关键数据资产。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对于存量题库，建议优先走模板导入，效率高且规范一致。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这项能力适合把制度文件快速转为训练题，后续可由题库老师再做精修。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建议按岗位/部门分批发布，便于后续统计对比。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学员使用路径非常短，重点在于考试后的复盘动作是否跟上。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错题不是结果，而是改进入口。制度来源让培训从“泛泛复盘”变成“精准补课”。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这是管理层最关注的结果视图，可快速判断考试质量与覆盖效果。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这页就是你提到的“参考反洗钱考试通报”能力，数据可直接汇报，不用二次手工统计。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目前先按题型做第一层薄弱识别，后续可扩展到“题库标签/制度来源/岗位”更细粒度分析。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导出能力让系统数据可直接进入正式报告流转，减少手工加工成本。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移动端保证培训覆盖率，适合碎片化学习场景。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这页建议作为领导最关注的“业务价值案例”重点讲解。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系统价值能否持续，关键在于运营机制，而不仅是功能上线。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把常见问题前置给客户，能显著减少实施后支持成本。</a:t>
            </a:r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本期先落地可用能力，下一步重点做“更精准”和“更自动化”。</a:t>
            </a:r>
          </a:p>
          <a:p>
            <a:r>
              <a:t>---</a:t>
            </a:r>
          </a:p>
          <a:p>
            <a:r>
              <a:t>## 附录A｜截图清单（做PPT时请补齐）</a:t>
            </a:r>
          </a:p>
          <a:p>
            <a:r>
              <a:t>1. 管理端登录页</a:t>
            </a:r>
          </a:p>
          <a:p>
            <a:r>
              <a:t>2. 学员端登录页</a:t>
            </a:r>
          </a:p>
          <a:p>
            <a:r>
              <a:t>3. 题目编辑页（含制度来源）</a:t>
            </a:r>
          </a:p>
          <a:p>
            <a:r>
              <a:t>4. 题库导入弹窗</a:t>
            </a:r>
          </a:p>
          <a:p>
            <a:r>
              <a:t>5. 文件库导题弹窗</a:t>
            </a:r>
          </a:p>
          <a:p>
            <a:r>
              <a:t>6. 组卷配置页</a:t>
            </a:r>
          </a:p>
          <a:p>
            <a:r>
              <a:t>7. 学员答题页</a:t>
            </a:r>
          </a:p>
          <a:p>
            <a:r>
              <a:t>8. 错题详情页（显示制度来源）</a:t>
            </a:r>
          </a:p>
          <a:p>
            <a:r>
              <a:t>9. 成绩分析页（通过率）</a:t>
            </a:r>
          </a:p>
          <a:p>
            <a:r>
              <a:t>10. 通报报表弹窗（分部门+薄弱点）</a:t>
            </a:r>
          </a:p>
          <a:p>
            <a:r>
              <a:t>---</a:t>
            </a:r>
          </a:p>
          <a:p>
            <a:r>
              <a:t>## 附录B｜5分钟演示话术（可直接照读）</a:t>
            </a:r>
          </a:p>
          <a:p>
            <a:r>
              <a:t>1. 我们通过统一平台完成“建题、考试、分析、复训”闭环。</a:t>
            </a:r>
          </a:p>
          <a:p>
            <a:r>
              <a:t>2. 这次重点新增了三块：通报报表、薄弱点分析、文件库导题。</a:t>
            </a:r>
          </a:p>
          <a:p>
            <a:r>
              <a:t>3. 报表可以直接输出通过率、平均分，并按部门标签呈现。</a:t>
            </a:r>
          </a:p>
          <a:p>
            <a:r>
              <a:t>4. 错题可以追溯到制度来源，方便针对性补训。</a:t>
            </a:r>
          </a:p>
          <a:p>
            <a:r>
              <a:t>5. 最终目标是让考试结果可衡量、可通报、可改进。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培训考试系统使用说明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PPT自动生成版</a:t>
            </a:r>
          </a:p>
          <a:p>
            <a:r>
              <a:t>（基于 SYSTEM_USER_GUIDE_PPT_SCRIPT.md）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第1页｜封面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系统版本：1.16.0</a:t>
            </a:r>
          </a:p>
          <a:p>
            <a:pPr>
              <a:defRPr sz="2000"/>
            </a:pPr>
            <a:r>
              <a:t>汇报人 / 日期</a:t>
            </a:r>
          </a:p>
          <a:p>
            <a:pPr>
              <a:defRPr sz="2000"/>
            </a:pPr>
            <a:r>
              <a:t>【图示】系统 Logo 或首页截图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第2页｜系统价值与目标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统一培训考试流程，覆盖“命题—考试—分析—改进”闭环</a:t>
            </a:r>
          </a:p>
          <a:p>
            <a:pPr>
              <a:defRPr sz="2000"/>
            </a:pPr>
            <a:r>
              <a:t>支持线上考试与移动学习</a:t>
            </a:r>
          </a:p>
          <a:p>
            <a:pPr>
              <a:defRPr sz="2000"/>
            </a:pPr>
            <a:r>
              <a:t>支持数据化通报（通过率、平均分、部门标签）</a:t>
            </a:r>
          </a:p>
          <a:p>
            <a:pPr>
              <a:defRPr sz="2000"/>
            </a:pPr>
            <a:r>
              <a:t>支持错题追溯到制度来源</a:t>
            </a:r>
          </a:p>
          <a:p>
            <a:pPr>
              <a:defRPr sz="2000"/>
            </a:pPr>
            <a:r>
              <a:t>【图示】一张闭环流程图：题库→试卷→作答→分析→复训</a:t>
            </a:r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第3页｜系统入口与访问方式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管理端：`https://exam.440700.xyz/admin/index.html`</a:t>
            </a:r>
          </a:p>
          <a:p>
            <a:pPr>
              <a:defRPr sz="2000"/>
            </a:pPr>
            <a:r>
              <a:t>学员端：`https://exam.440700.xyz/student/index.html`</a:t>
            </a:r>
          </a:p>
          <a:p>
            <a:pPr>
              <a:defRPr sz="2000"/>
            </a:pPr>
            <a:r>
              <a:t>Android 下载：`https://exam.440700.xyz/api/student/app/download`</a:t>
            </a:r>
          </a:p>
          <a:p>
            <a:pPr>
              <a:defRPr sz="2000"/>
            </a:pPr>
            <a:r>
              <a:t>【图示】管理端登录页 + 学员端登录页 + 手机下载页三图拼接</a:t>
            </a:r>
          </a:p>
        </p:txBody>
      </p:sp>
      <p:pic>
        <p:nvPicPr>
          <p:cNvPr id="4" name="Picture 3" descr="stud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第4页｜角色与权限说明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管理员：题库维护、试卷发布、成绩分析、报表导出</a:t>
            </a:r>
          </a:p>
          <a:p>
            <a:pPr>
              <a:defRPr sz="2000"/>
            </a:pPr>
            <a:r>
              <a:t>学员：参加考试、查看记录、错题复盘、消息接收</a:t>
            </a:r>
          </a:p>
          <a:p>
            <a:pPr>
              <a:defRPr sz="2000"/>
            </a:pPr>
            <a:r>
              <a:t>权限控制：按角色访问不同菜单与接口</a:t>
            </a:r>
          </a:p>
          <a:p>
            <a:pPr>
              <a:defRPr sz="2000"/>
            </a:pPr>
            <a:r>
              <a:t>【图示】角色权限矩阵表（管理员/学员 × 功能）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第5页｜管理员全流程总览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维护基础信息（部门/业务范围/用户）</a:t>
            </a:r>
          </a:p>
          <a:p>
            <a:pPr>
              <a:defRPr sz="2000"/>
            </a:pPr>
            <a:r>
              <a:t>2. 题库建设（手工建题或导入）</a:t>
            </a:r>
          </a:p>
          <a:p>
            <a:pPr>
              <a:defRPr sz="2000"/>
            </a:pPr>
            <a:r>
              <a:t>3. 组卷发布（固定/时段/随机）</a:t>
            </a:r>
          </a:p>
          <a:p>
            <a:pPr>
              <a:defRPr sz="2000"/>
            </a:pPr>
            <a:r>
              <a:t>4. 结果分析与通报（通过率、平均分、薄弱点）</a:t>
            </a:r>
          </a:p>
          <a:p>
            <a:pPr>
              <a:defRPr sz="2000"/>
            </a:pPr>
            <a:r>
              <a:t>【图示】管理端左侧菜单全景截图</a:t>
            </a:r>
          </a:p>
        </p:txBody>
      </p:sp>
      <p:pic>
        <p:nvPicPr>
          <p:cNvPr id="4" name="Picture 3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第6页｜题库建设：手工建题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支持题型：单选、多选、判断、填空、简答</a:t>
            </a:r>
          </a:p>
          <a:p>
            <a:pPr>
              <a:defRPr sz="2000"/>
            </a:pPr>
            <a:r>
              <a:t>必填项：题干、答案、解析、分数、难度</a:t>
            </a:r>
          </a:p>
          <a:p>
            <a:pPr>
              <a:defRPr sz="2000"/>
            </a:pPr>
            <a:r>
              <a:t>新增字段：制度来源（用于错题追溯）</a:t>
            </a:r>
          </a:p>
          <a:p>
            <a:pPr>
              <a:defRPr sz="2000"/>
            </a:pPr>
            <a:r>
              <a:t>【图示】题目编辑页截图，红框标出“制度来源”</a:t>
            </a:r>
          </a:p>
        </p:txBody>
      </p:sp>
      <p:pic>
        <p:nvPicPr>
          <p:cNvPr id="4" name="Picture 3" descr="admin_question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第7页｜题库建设：Excel导入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支持模板化导入（批量入库）</a:t>
            </a:r>
          </a:p>
          <a:p>
            <a:pPr>
              <a:defRPr sz="2000"/>
            </a:pPr>
            <a:r>
              <a:t>常用字段：题型、题干、选项、答案、解析、分数、难度、制度来源</a:t>
            </a:r>
          </a:p>
          <a:p>
            <a:pPr>
              <a:defRPr sz="2000"/>
            </a:pPr>
            <a:r>
              <a:t>导入后可直接进入题库统计与组卷</a:t>
            </a:r>
          </a:p>
          <a:p>
            <a:pPr>
              <a:defRPr sz="2000"/>
            </a:pPr>
            <a:r>
              <a:t>【图示】题库导入弹窗 + Excel模板示例</a:t>
            </a:r>
          </a:p>
        </p:txBody>
      </p:sp>
      <p:pic>
        <p:nvPicPr>
          <p:cNvPr id="4" name="Picture 3" descr="sho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第8页｜文件库自动出题（新增）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新入口：题库页“文件库导题”</a:t>
            </a:r>
          </a:p>
          <a:p>
            <a:pPr>
              <a:defRPr sz="2000"/>
            </a:pPr>
            <a:r>
              <a:t>支持上传 txt/md/csv 文本文件</a:t>
            </a:r>
          </a:p>
          <a:p>
            <a:pPr>
              <a:defRPr sz="2000"/>
            </a:pPr>
            <a:r>
              <a:t>按行自动生成简答题，并可写入制度来源</a:t>
            </a:r>
          </a:p>
          <a:p>
            <a:pPr>
              <a:defRPr sz="2000"/>
            </a:pPr>
            <a:r>
              <a:t>【图示】文件库导题弹窗截图（标签/业务范围/制度来源/文件）</a:t>
            </a:r>
          </a:p>
        </p:txBody>
      </p:sp>
      <p:pic>
        <p:nvPicPr>
          <p:cNvPr id="4" name="Picture 3" descr="admin_question_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第9页｜组卷发布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支持固定试卷、时段试卷、随机组卷</a:t>
            </a:r>
          </a:p>
          <a:p>
            <a:pPr>
              <a:defRPr sz="2000"/>
            </a:pPr>
            <a:r>
              <a:t>可按题型配置数量与分值</a:t>
            </a:r>
          </a:p>
          <a:p>
            <a:pPr>
              <a:defRPr sz="2000"/>
            </a:pPr>
            <a:r>
              <a:t>发布后学员端可即时看到任务</a:t>
            </a:r>
          </a:p>
          <a:p>
            <a:pPr>
              <a:defRPr sz="2000"/>
            </a:pPr>
            <a:r>
              <a:t>【图示】组卷配置页 + 试卷发布列表</a:t>
            </a:r>
          </a:p>
        </p:txBody>
      </p:sp>
      <p:pic>
        <p:nvPicPr>
          <p:cNvPr id="4" name="Picture 3" descr="sho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第10页｜学员考试流程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学员登录</a:t>
            </a:r>
          </a:p>
          <a:p>
            <a:pPr>
              <a:defRPr sz="2000"/>
            </a:pPr>
            <a:r>
              <a:t>2. 进入试卷/练习</a:t>
            </a:r>
          </a:p>
          <a:p>
            <a:pPr>
              <a:defRPr sz="2000"/>
            </a:pPr>
            <a:r>
              <a:t>3. 作答并提交</a:t>
            </a:r>
          </a:p>
          <a:p>
            <a:pPr>
              <a:defRPr sz="2000"/>
            </a:pPr>
            <a:r>
              <a:t>4. 查看成绩与解析</a:t>
            </a:r>
          </a:p>
          <a:p>
            <a:pPr>
              <a:defRPr sz="2000"/>
            </a:pPr>
            <a:r>
              <a:t>【图示】学员端首页、答题页、提交结果页三联图</a:t>
            </a:r>
          </a:p>
        </p:txBody>
      </p:sp>
      <p:pic>
        <p:nvPicPr>
          <p:cNvPr id="4" name="Picture 3" descr="stud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第11页｜错题本与复训闭环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错题自动沉淀到错题本</a:t>
            </a:r>
          </a:p>
          <a:p>
            <a:pPr>
              <a:defRPr sz="2000"/>
            </a:pPr>
            <a:r>
              <a:t>可查看题目解析与制度来源</a:t>
            </a:r>
          </a:p>
          <a:p>
            <a:pPr>
              <a:defRPr sz="2000"/>
            </a:pPr>
            <a:r>
              <a:t>可作为二次培训的重点清单</a:t>
            </a:r>
          </a:p>
          <a:p>
            <a:pPr>
              <a:defRPr sz="2000"/>
            </a:pPr>
            <a:r>
              <a:t>【图示】错题列表页 + 错题详情页（展示制度来源）</a:t>
            </a:r>
          </a:p>
        </p:txBody>
      </p:sp>
      <p:pic>
        <p:nvPicPr>
          <p:cNvPr id="4" name="Picture 3" descr="student_wrong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第12页｜考试分析（新增增强）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支持试卷维度：参考人数、通过人数、通过率、平均分、最高/最低分</a:t>
            </a:r>
          </a:p>
          <a:p>
            <a:pPr>
              <a:defRPr sz="2000"/>
            </a:pPr>
            <a:r>
              <a:t>支持详情查看与导出</a:t>
            </a:r>
          </a:p>
          <a:p>
            <a:pPr>
              <a:defRPr sz="2000"/>
            </a:pPr>
            <a:r>
              <a:t>适用于周报/月报/专项通报</a:t>
            </a:r>
          </a:p>
          <a:p>
            <a:pPr>
              <a:defRPr sz="2000"/>
            </a:pPr>
            <a:r>
              <a:t>【图示】管理端“成绩分析”页，标出新增通过率列</a:t>
            </a:r>
          </a:p>
        </p:txBody>
      </p:sp>
      <p:pic>
        <p:nvPicPr>
          <p:cNvPr id="4" name="Picture 3" descr="admin_answ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第13页｜通报报表（新增）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一键生成“通报式”报表</a:t>
            </a:r>
          </a:p>
          <a:p>
            <a:pPr>
              <a:defRPr sz="2000"/>
            </a:pPr>
            <a:r>
              <a:t>核心指标：通过率、平均分</a:t>
            </a:r>
          </a:p>
          <a:p>
            <a:pPr>
              <a:defRPr sz="2000"/>
            </a:pPr>
            <a:r>
              <a:t>分组维度：按部门/标签（如分行岗位）</a:t>
            </a:r>
          </a:p>
          <a:p>
            <a:pPr>
              <a:defRPr sz="2000"/>
            </a:pPr>
            <a:r>
              <a:t>【图示】通报报表弹窗总览</a:t>
            </a:r>
          </a:p>
        </p:txBody>
      </p:sp>
      <p:pic>
        <p:nvPicPr>
          <p:cNvPr id="4" name="Picture 3" descr="admin_answ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第14页｜薄弱知识分析（新增）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统计维度：按题型错题率</a:t>
            </a:r>
          </a:p>
          <a:p>
            <a:pPr>
              <a:defRPr sz="2000"/>
            </a:pPr>
            <a:r>
              <a:t>输出字段：总作答、错题数、错题率</a:t>
            </a:r>
          </a:p>
          <a:p>
            <a:pPr>
              <a:defRPr sz="2000"/>
            </a:pPr>
            <a:r>
              <a:t>用于识别“知识薄弱环节”</a:t>
            </a:r>
          </a:p>
          <a:p>
            <a:pPr>
              <a:defRPr sz="2000"/>
            </a:pPr>
            <a:r>
              <a:t>【图示】薄弱点表格或柱状图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第15页｜报表导出与领导汇报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 Excel 导出成绩明细</a:t>
            </a:r>
          </a:p>
          <a:p>
            <a:pPr>
              <a:defRPr sz="2000"/>
            </a:pPr>
            <a:r>
              <a:t>支持 PDF 导出考试报告</a:t>
            </a:r>
          </a:p>
          <a:p>
            <a:pPr>
              <a:defRPr sz="2000"/>
            </a:pPr>
            <a:r>
              <a:t>可直接作为通报附件</a:t>
            </a:r>
          </a:p>
          <a:p>
            <a:pPr>
              <a:defRPr sz="2000"/>
            </a:pPr>
            <a:r>
              <a:t>【图示】导出按钮截图 + 导出样例文件截图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第16页｜移动端使用说明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Android 下载安装</a:t>
            </a:r>
          </a:p>
          <a:p>
            <a:pPr>
              <a:defRPr sz="2000"/>
            </a:pPr>
            <a:r>
              <a:t>登录后可完成考试、记录查看、错题复习</a:t>
            </a:r>
          </a:p>
          <a:p>
            <a:pPr>
              <a:defRPr sz="2000"/>
            </a:pPr>
            <a:r>
              <a:t>与网页端账号与数据打通</a:t>
            </a:r>
          </a:p>
          <a:p>
            <a:pPr>
              <a:defRPr sz="2000"/>
            </a:pPr>
            <a:r>
              <a:t>【图示】App 首页、考试记录、错题页截图</a:t>
            </a:r>
          </a:p>
        </p:txBody>
      </p:sp>
      <p:pic>
        <p:nvPicPr>
          <p:cNvPr id="4" name="Picture 3" descr="student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第17页｜典型应用场景（反洗钱）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题库来源：制度文件 + 业务案例</a:t>
            </a:r>
          </a:p>
          <a:p>
            <a:pPr>
              <a:defRPr sz="2000"/>
            </a:pPr>
            <a:r>
              <a:t>考后输出：分部门通过率、平均分、薄弱点</a:t>
            </a:r>
          </a:p>
          <a:p>
            <a:pPr>
              <a:defRPr sz="2000"/>
            </a:pPr>
            <a:r>
              <a:t>复训动作：针对低通过率部门补训</a:t>
            </a:r>
          </a:p>
          <a:p>
            <a:pPr>
              <a:defRPr sz="2000"/>
            </a:pPr>
            <a:r>
              <a:t>【图示】“考试-通报-复训”流程图</a:t>
            </a:r>
          </a:p>
        </p:txBody>
      </p:sp>
      <p:pic>
        <p:nvPicPr>
          <p:cNvPr id="4" name="Picture 3" descr="sho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第18页｜上线与运营建议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每月固定节奏：建题→考试→通报→复训</a:t>
            </a:r>
          </a:p>
          <a:p>
            <a:pPr>
              <a:defRPr sz="2000"/>
            </a:pPr>
            <a:r>
              <a:t>建立题库维护责任人</a:t>
            </a:r>
          </a:p>
          <a:p>
            <a:pPr>
              <a:defRPr sz="2000"/>
            </a:pPr>
            <a:r>
              <a:t>制度来源字段纳入题目录入规范</a:t>
            </a:r>
          </a:p>
          <a:p>
            <a:pPr>
              <a:defRPr sz="2000"/>
            </a:pPr>
            <a:r>
              <a:t>【图示】月度运营甘特图</a:t>
            </a:r>
          </a:p>
        </p:txBody>
      </p:sp>
      <p:pic>
        <p:nvPicPr>
          <p:cNvPr id="4" name="Picture 3" descr="sho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第19页｜常见问题与排障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网页打不开：先访问完整路径（/admin/index.html、/student/index.html）</a:t>
            </a:r>
          </a:p>
          <a:p>
            <a:pPr>
              <a:defRPr sz="2000"/>
            </a:pPr>
            <a:r>
              <a:t>App 下载失败：检查 `/api/student/app/download`</a:t>
            </a:r>
          </a:p>
          <a:p>
            <a:pPr>
              <a:defRPr sz="2000"/>
            </a:pPr>
            <a:r>
              <a:t>登录异常：清 Cookie/缓存后重试</a:t>
            </a:r>
          </a:p>
          <a:p>
            <a:pPr>
              <a:defRPr sz="2000"/>
            </a:pPr>
            <a:r>
              <a:t>【图示】FAQ 表格（问题/现象/处理）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第20页｜后续规划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薄弱点分析升级到“制度条款级”</a:t>
            </a:r>
          </a:p>
          <a:p>
            <a:pPr>
              <a:defRPr sz="2000"/>
            </a:pPr>
            <a:r>
              <a:t>报表模板化（按领导偏好固定版式）</a:t>
            </a:r>
          </a:p>
          <a:p>
            <a:pPr>
              <a:defRPr sz="2000"/>
            </a:pPr>
            <a:r>
              <a:t>引入文件理解与自动抽题质量评估</a:t>
            </a:r>
          </a:p>
          <a:p>
            <a:pPr>
              <a:defRPr sz="2000"/>
            </a:pPr>
            <a:r>
              <a:t>【图示】路线图（当前版本 → 下一阶段）</a:t>
            </a:r>
          </a:p>
        </p:txBody>
      </p:sp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57200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